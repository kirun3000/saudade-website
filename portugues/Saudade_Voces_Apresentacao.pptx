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Mix de Receita · Ano 1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3D49"/>
              </a:solidFill>
              <a:effectLst/>
            </c:spPr>
          </c:dPt>
          <c:dPt>
            <c:idx val="1"/>
            <c:bubble3D val="0"/>
            <c:spPr>
              <a:solidFill>
                <a:srgbClr val="E89B7C"/>
              </a:solidFill>
              <a:effectLst/>
            </c:spPr>
          </c:dPt>
          <c:dPt>
            <c:idx val="2"/>
            <c:bubble3D val="0"/>
            <c:spPr>
              <a:solidFill>
                <a:srgbClr val="D4A574"/>
              </a:solidFill>
              <a:effectLst/>
            </c:spPr>
          </c:dPt>
          <c:dPt>
            <c:idx val="3"/>
            <c:bubble3D val="0"/>
            <c:spPr>
              <a:solidFill>
                <a:srgbClr val="8FB6BC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Quimonos</c:v>
                </c:pt>
                <c:pt idx="1">
                  <c:v>Cápsula</c:v>
                </c:pt>
                <c:pt idx="2">
                  <c:v>Arte</c:v>
                </c:pt>
                <c:pt idx="3">
                  <c:v>Eventos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100000</c:v>
                </c:pt>
                <c:pt idx="1">
                  <c:v>10000</c:v>
                </c:pt>
                <c:pt idx="2">
                  <c:v>7200</c:v>
                </c:pt>
                <c:pt idx="3">
                  <c:v>5000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84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EDDD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 Bruta</c:v>
                </c:pt>
              </c:strCache>
            </c:strRef>
          </c:tx>
          <c:spPr>
            <a:solidFill>
              <a:srgbClr val="0E3D49"/>
            </a:solidFill>
            <a:effectLst/>
          </c:spPr>
          <c:invertIfNegative val="0"/>
          <c:dLbls>
            <c:numFmt formatCode="€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38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122200</c:v>
                </c:pt>
                <c:pt idx="1">
                  <c:v>183000</c:v>
                </c:pt>
                <c:pt idx="2">
                  <c:v>275000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Lucro Operacional</c:v>
                </c:pt>
              </c:strCache>
            </c:strRef>
          </c:tx>
          <c:spPr>
            <a:solidFill>
              <a:srgbClr val="E89B7C"/>
            </a:solidFill>
            <a:effectLst/>
          </c:spPr>
          <c:invertIfNegative val="0"/>
          <c:dLbls>
            <c:numFmt formatCode="€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33842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Ano 1</c:v>
                  </c:pt>
                  <c:pt idx="1">
                    <c:v>Ano 2</c:v>
                  </c:pt>
                  <c:pt idx="2">
                    <c:v>Ano 3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56990</c:v>
                </c:pt>
                <c:pt idx="1">
                  <c:v>68150</c:v>
                </c:pt>
                <c:pt idx="2">
                  <c:v>78950</c:v>
                </c:pt>
              </c:numCache>
            </c:numRef>
          </c:val>
        </c:ser>
        <c:dLbls>
          <c:numFmt formatCode="€#,##0" sourceLinked="0"/>
          <c:txPr>
            <a:bodyPr/>
            <a:lstStyle/>
            <a:p>
              <a:pPr>
                <a:defRPr b="0" i="0" strike="noStrike" sz="900" u="none">
                  <a:solidFill>
                    <a:srgbClr val="133842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3384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CD2BD"/>
              </a:solidFill>
              <a:prstDash val="solid"/>
              <a:round/>
            </a:ln>
          </c:spPr>
        </c:majorGridlines>
        <c:numFmt formatCode="€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E7C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5EDDD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33842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5EDDD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blissful-curie/mnt/outputs/build/mandala_light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tretch>
            <a:fillRect/>
          </a:stretch>
        </p:blipFill>
        <p:spPr>
          <a:xfrm>
            <a:off x="5333695" y="-914400"/>
            <a:ext cx="8686800" cy="8686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 ·  DESDE 2026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spc="1200" kern="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SAUDADE</a:t>
            </a:r>
            <a:endParaRPr lang="en-US" sz="9600" dirty="0"/>
          </a:p>
        </p:txBody>
      </p:sp>
      <p:sp>
        <p:nvSpPr>
          <p:cNvPr id="5" name="Text 2"/>
          <p:cNvSpPr/>
          <p:nvPr/>
        </p:nvSpPr>
        <p:spPr>
          <a:xfrm>
            <a:off x="640080" y="3383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spc="1800" kern="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VOCES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640080" y="429768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4348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Nascido do sentir.  Construído com amor.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55778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NEGÓCIOS  ·  PROJECÇÃO DE LUCRO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Unipessoal LDA   ·   Maio 2026   ·   Confidencial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 EXECUTIVO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forma que o amor toma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constrói algo duradouro.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Saudade Voces é uma marca de estilo de vida consciente que se expressa através da moda, arte e comunidade. Uma colecção inaugural de 500 quimonos, uma colaboração com artesanato português, uma galeria com 24 peças originais, e um ano de eventos na loja — tudo ancorado por uma loja física já existente em Portugal.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0" y="2194560"/>
            <a:ext cx="3657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46720" y="2194560"/>
            <a:ext cx="73152" cy="114300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9" name="Text 7"/>
          <p:cNvSpPr/>
          <p:nvPr/>
        </p:nvSpPr>
        <p:spPr>
          <a:xfrm>
            <a:off x="8275320" y="2331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€122.200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275320" y="290779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Alvo · Ano 1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3520440"/>
            <a:ext cx="3657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046720" y="3520440"/>
            <a:ext cx="73152" cy="114300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13" name="Text 11"/>
          <p:cNvSpPr/>
          <p:nvPr/>
        </p:nvSpPr>
        <p:spPr>
          <a:xfrm>
            <a:off x="8275320" y="365760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€56.990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275320" y="423367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Operacional Líquido · Ano 1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4846320"/>
            <a:ext cx="3657600" cy="1143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046720" y="4846320"/>
            <a:ext cx="73152" cy="11430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5"/>
          <p:cNvSpPr/>
          <p:nvPr/>
        </p:nvSpPr>
        <p:spPr>
          <a:xfrm>
            <a:off x="8275320" y="498348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Mês 7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275320" y="555955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 Previsto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206240"/>
            <a:ext cx="457200" cy="27432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434340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“Moda, Arte e Música”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720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5669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quimonos · tecidos sustentáveis · €200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97180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971800" y="5669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de 24 peças · originais &amp; edições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0" y="53492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COMUNIDADE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86400" y="56692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Eventos mensais · cápsula portuguesa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marca construída na intersecção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visível e do sentido.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FILOSOFIA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6400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Saudade Voces fala através da moda, da arte e do encontro. Quimonos inspirados na geometria sagrada e cortados em tecido natural. Obras que dialogam com o autor e com o momento. Eventos que transformam a loja num ponto de encontro. Beleza e consciência, tratadas como uma só coisa.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0" y="2331720"/>
            <a:ext cx="443484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543800" y="24688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UM RELANCE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54380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Razão social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006840" y="28346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Unipessoal LDA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543800" y="3337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comercial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9006840" y="333756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43800" y="3840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006840" y="384048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— Portugal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543800" y="43434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06840" y="4343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 Sustentável &amp; Belas Artes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543800" y="48463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006840" y="48463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+ online + galeria + eventos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543800" y="53492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9006840" y="5349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PT/UE no lançamento · RU &amp; AN no Ano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“Criar peças que carregam significado — enraizadas em sabedoria ancestral, beleza e amor.”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 ·  PILAR UM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Colecção de Quimonos.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quimonos inspirados em padrões ancestrais e na inteligência do mundo natural. Feitos para serem usados durante décadas — passados em frente, lembrados.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53512"/>
            <a:ext cx="109728" cy="109728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8346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Materiais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194560" y="28346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Naturais &amp; orgânicos · éticos · sustentáveis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364992"/>
            <a:ext cx="109728" cy="109728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461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94560" y="32461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Geometria sagrada · padrão ancestral · tons de terra e floresta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776472"/>
            <a:ext cx="109728" cy="109728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57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194560" y="36576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Oficinas artesanais em pequena escala · rastreabilidade total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4187952"/>
            <a:ext cx="109728" cy="109728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690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94560" y="40690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peças · 5 estampados · tamanho único unissexo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4599432"/>
            <a:ext cx="109728" cy="109728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4805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Preço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194560" y="4480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 venda directa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5010912"/>
            <a:ext cx="109728" cy="109728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4892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Margem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194560" y="48920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~65% bruta · CMV €60–€75 por unidade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863840" y="1828800"/>
            <a:ext cx="3886200" cy="429768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26" name="Text 24"/>
          <p:cNvSpPr/>
          <p:nvPr/>
        </p:nvSpPr>
        <p:spPr>
          <a:xfrm>
            <a:off x="809244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CONTAS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092440" y="2377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× €200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92440" y="28346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€100.000</a:t>
            </a:r>
            <a:endParaRPr lang="en-US" sz="4400" dirty="0"/>
          </a:p>
        </p:txBody>
      </p:sp>
      <p:sp>
        <p:nvSpPr>
          <p:cNvPr id="29" name="Text 27"/>
          <p:cNvSpPr/>
          <p:nvPr/>
        </p:nvSpPr>
        <p:spPr>
          <a:xfrm>
            <a:off x="8092440" y="3703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com venda total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92440" y="4160520"/>
            <a:ext cx="3474720" cy="18288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1" name="Text 29"/>
          <p:cNvSpPr/>
          <p:nvPr/>
        </p:nvSpPr>
        <p:spPr>
          <a:xfrm>
            <a:off x="8092440" y="4297680"/>
            <a:ext cx="3474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€65.000</a:t>
            </a:r>
            <a:endParaRPr lang="en-US" sz="3000" dirty="0"/>
          </a:p>
        </p:txBody>
      </p:sp>
      <p:sp>
        <p:nvSpPr>
          <p:cNvPr id="32" name="Text 30"/>
          <p:cNvSpPr/>
          <p:nvPr/>
        </p:nvSpPr>
        <p:spPr>
          <a:xfrm>
            <a:off x="8092440" y="49834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bruto a 65% de margem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92440" y="548640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conservador (60% de vendas): €60.000 receita · €39.000 lucro bruto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 ·  PILARES DOIS &amp; TRÊS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Artesanato português. Arte original.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3949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73152" cy="438912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COLABORATIVA PORTUGUESA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296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troca assinada e numerada entre dois criadores.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520440"/>
            <a:ext cx="91440" cy="91440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4564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peças co-assinadas, exclusivas da Saudade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3931920"/>
            <a:ext cx="91440" cy="91440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8679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Artesanato têxtil português + silhuetas Saudade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22960" y="4343400"/>
            <a:ext cx="91440" cy="91440"/>
          </a:xfrm>
          <a:prstGeom prst="ellipse">
            <a:avLst/>
          </a:prstGeom>
          <a:solidFill>
            <a:srgbClr val="E89B7C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42793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€250–€350 por peça · narrativa de dupla autoria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22960" y="4937760"/>
            <a:ext cx="4663440" cy="1828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€10.000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alvo da cápsula · Ano 1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394960" cy="4389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309360" y="1828800"/>
            <a:ext cx="73152" cy="43891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01168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GALERIA DE ARTE SAUDADE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233172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Vinte e quatro obras. Um universo visual.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675120" y="3520440"/>
            <a:ext cx="91440" cy="914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345643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originais · €250–€400 (peças únicas)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0" y="3931920"/>
            <a:ext cx="91440" cy="914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6" name="Text 24"/>
          <p:cNvSpPr/>
          <p:nvPr/>
        </p:nvSpPr>
        <p:spPr>
          <a:xfrm>
            <a:off x="6903720" y="386791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edições limitadas · €80–€180 (impressões assinadas)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675120" y="4343400"/>
            <a:ext cx="91440" cy="91440"/>
          </a:xfrm>
          <a:prstGeom prst="ellipse">
            <a:avLst/>
          </a:prstGeom>
          <a:solidFill>
            <a:srgbClr val="D4A574"/>
          </a:solidFill>
          <a:ln/>
        </p:spPr>
      </p:sp>
      <p:sp>
        <p:nvSpPr>
          <p:cNvPr id="28" name="Text 26"/>
          <p:cNvSpPr/>
          <p:nvPr/>
        </p:nvSpPr>
        <p:spPr>
          <a:xfrm>
            <a:off x="6903720" y="4279392"/>
            <a:ext cx="4617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edições abertas · €45–€90 (impressões giclée)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675120" y="4937760"/>
            <a:ext cx="4663440" cy="1828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30" name="Text 28"/>
          <p:cNvSpPr/>
          <p:nvPr/>
        </p:nvSpPr>
        <p:spPr>
          <a:xfrm>
            <a:off x="6675120" y="5074920"/>
            <a:ext cx="4663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€7.200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675120" y="5715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arte · Ano 1 (60% de vendas)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 ·  PILAR QUATRO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loja, viva todos os meses.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eventos são uma fonte de receita e um motor de marca desde o Dia 1. A loja física transforma-se num espaço de encontro — para lançamentos de colecções, vernissages e noites comunitárias.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383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3246120"/>
            <a:ext cx="548640" cy="548640"/>
          </a:xfrm>
          <a:prstGeom prst="ellipse">
            <a:avLst/>
          </a:prstGeom>
          <a:solidFill>
            <a:srgbClr val="F5EDDD"/>
          </a:solidFill>
          <a:ln w="12700">
            <a:solidFill>
              <a:srgbClr val="E89B7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173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Encontros mensais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Visitas privadas, vernissages, círculos comunitários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0" y="2926080"/>
            <a:ext cx="3383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89120" y="3246120"/>
            <a:ext cx="548640" cy="548640"/>
          </a:xfrm>
          <a:prstGeom prst="ellipse">
            <a:avLst/>
          </a:prstGeom>
          <a:solidFill>
            <a:srgbClr val="F5EDDD"/>
          </a:solidFill>
          <a:ln w="12700">
            <a:solidFill>
              <a:srgbClr val="E89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74920" y="31089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Lançamentos sazonais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74920" y="35204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Estreias de cápsula, novidades de arte, apresentação de quimonos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3383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4617720"/>
            <a:ext cx="548640" cy="548640"/>
          </a:xfrm>
          <a:prstGeom prst="ellipse">
            <a:avLst/>
          </a:prstGeom>
          <a:solidFill>
            <a:srgbClr val="F5EDDD"/>
          </a:solidFill>
          <a:ln w="12700">
            <a:solidFill>
              <a:srgbClr val="E89B7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1732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Noites com bilhete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417320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Experiências comissariadas com música e arte · €15–30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114800" y="4297680"/>
            <a:ext cx="33832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389120" y="4617720"/>
            <a:ext cx="548640" cy="548640"/>
          </a:xfrm>
          <a:prstGeom prst="ellipse">
            <a:avLst/>
          </a:prstGeom>
          <a:solidFill>
            <a:srgbClr val="F5EDDD"/>
          </a:solidFill>
          <a:ln w="12700">
            <a:solidFill>
              <a:srgbClr val="E89B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389120" y="4617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074920" y="448056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Presença pop-up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074920" y="48920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Mercados de design em Lisboa, feiras de arte, festivais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955280" y="2926080"/>
            <a:ext cx="3794760" cy="256032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28" name="Text 26"/>
          <p:cNvSpPr/>
          <p:nvPr/>
        </p:nvSpPr>
        <p:spPr>
          <a:xfrm>
            <a:off x="8183880" y="3108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EVENTOS · ANO 1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183880" y="3474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€5.000</a:t>
            </a:r>
            <a:endParaRPr lang="en-US" sz="4800" dirty="0"/>
          </a:p>
        </p:txBody>
      </p:sp>
      <p:sp>
        <p:nvSpPr>
          <p:cNvPr id="30" name="Text 28"/>
          <p:cNvSpPr/>
          <p:nvPr/>
        </p:nvSpPr>
        <p:spPr>
          <a:xfrm>
            <a:off x="8183880" y="452628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~200 participantes ao longo de</a:t>
            </a:r>
            <a:endParaRPr lang="en-US" sz="1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encontros mensais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55280" y="5577840"/>
            <a:ext cx="3794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conservadora. Fidelização, imprensa e passa-palavra fluem em paralelo.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Dois mercados em convergência.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marca na costura.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3774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377440"/>
            <a:ext cx="3657600" cy="54864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€7,5B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Vestuário sustentável global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34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TCAC 9,7% até 2030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23774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389120" y="2377440"/>
            <a:ext cx="3657600" cy="54864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$11,8B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66344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arte online (2023)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663440" y="4434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anual de 7% · 18% das vendas globais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321040" y="2377440"/>
            <a:ext cx="365760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377440"/>
            <a:ext cx="3657600" cy="54864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8" name="Text 16"/>
          <p:cNvSpPr/>
          <p:nvPr/>
        </p:nvSpPr>
        <p:spPr>
          <a:xfrm>
            <a:off x="8595360" y="2743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+40%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59536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em despesas com experiências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95360" y="44348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Ultrapassa, à escala global, as compras de produto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5532120"/>
            <a:ext cx="11277295" cy="59436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5532120"/>
            <a:ext cx="1091153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Saudade está onde estas três correntes se encontram — premium, consciente, e vivida em pessoa.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quem é a Saudade.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4206240" cy="420624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2468880"/>
            <a:ext cx="2377440" cy="2377440"/>
          </a:xfrm>
          <a:prstGeom prst="ellipse">
            <a:avLst/>
          </a:prstGeom>
          <a:solidFill>
            <a:srgbClr val="E89B7C">
              <a:alpha val="70000"/>
            </a:srgbClr>
          </a:solidFill>
          <a:ln w="12700">
            <a:solidFill>
              <a:srgbClr val="D4A57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10896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28–50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5029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COLECCIONADOR CONSCIENTE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5440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 o artesanato, a proveniência, e peças que duram uma vida.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0" y="21945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Género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766560" y="21945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— tendência feminina (60%) · expressivos, conscientes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29200" y="2834640"/>
            <a:ext cx="676656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0" y="3017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766560" y="30175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Portugal no lançamento · UE+RU desde M1 · AN no Ano 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0" y="3657600"/>
            <a:ext cx="676656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38404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766560" y="3840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Sabedoria ancestral · vida natural · arte · comunidade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29200" y="4480560"/>
            <a:ext cx="676656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0" y="46634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766560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€150–€500 por peça de moda · €100–€500 em arte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029200" y="5303520"/>
            <a:ext cx="676656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5486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de contacto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54864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· Pinterest · eventos ao vivo · imprensa editorial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0" y="6126480"/>
            <a:ext cx="676656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NEGÓCIO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Seis fontes de receita.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universo.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315200" y="2377440"/>
          <a:ext cx="448056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66751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371600"/>
                <a:gridCol w="1371600"/>
                <a:gridCol w="11887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5E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5E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Preço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5E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4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spc="300" kern="0" dirty="0">
                          <a:solidFill>
                            <a:srgbClr val="F5EDD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3D49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Colecção de Quimonos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un.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Cápsula Portuguesa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€250–€350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peças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 — Originais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€250–€400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obras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€2.100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 — Ed. Limitadas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€80–€180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 impr.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€3.600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Arte — Ed. Abertas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€45–€90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 impr.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€1.500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Eventos &amp; Pop-ups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€15–€30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~200 pp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133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E89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ANO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E89B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€122.200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2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Os custos do lançamento.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quimonos (500 × ~€65)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0" y="19202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€32.500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286000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0428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portuguesa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0" y="230428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€3.500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70048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68833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arte &amp; emolduramento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0" y="268833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€2.500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54096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07238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comércio electrónico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0" y="307238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€1.500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438144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45643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de marca &amp; conteúdos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0" y="3456432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€1.500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822192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registo &amp; jurídico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486400" y="3840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€1.200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22452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Embalagem sustentável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6400" y="4224528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€900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4590288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0857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eventos (primeiros 3 meses)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0" y="4608576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€600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4974336"/>
            <a:ext cx="658368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" y="499262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Contingência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86400" y="4992624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5486400"/>
            <a:ext cx="6583680" cy="45720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ÚNICO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303520" y="5486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~€45.000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08076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~€470/mês operacional (plataforma, marketing, ferramentas)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589520" y="1920240"/>
            <a:ext cx="4206240" cy="4206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778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818120" y="2103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É FINANCIADO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818120" y="246888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€20.000</a:t>
            </a:r>
            <a:endParaRPr lang="en-US" sz="3200" dirty="0"/>
          </a:p>
        </p:txBody>
      </p:sp>
      <p:sp>
        <p:nvSpPr>
          <p:cNvPr id="39" name="Text 37"/>
          <p:cNvSpPr/>
          <p:nvPr/>
        </p:nvSpPr>
        <p:spPr>
          <a:xfrm>
            <a:off x="7818120" y="310896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da fundadora + activos existentes (loja, equipamento, inventário parcial)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818120" y="3840480"/>
            <a:ext cx="37490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1" name="Text 39"/>
          <p:cNvSpPr/>
          <p:nvPr/>
        </p:nvSpPr>
        <p:spPr>
          <a:xfrm>
            <a:off x="7818120" y="3977640"/>
            <a:ext cx="3749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€25.000</a:t>
            </a:r>
            <a:endParaRPr lang="en-US" sz="3200" dirty="0"/>
          </a:p>
        </p:txBody>
      </p:sp>
      <p:sp>
        <p:nvSpPr>
          <p:cNvPr id="42" name="Text 40"/>
          <p:cNvSpPr/>
          <p:nvPr/>
        </p:nvSpPr>
        <p:spPr>
          <a:xfrm>
            <a:off x="7818120" y="461772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 · produção, digital, conteúdos, lançamento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818120" y="5074920"/>
            <a:ext cx="37490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4" name="Text 42"/>
          <p:cNvSpPr/>
          <p:nvPr/>
        </p:nvSpPr>
        <p:spPr>
          <a:xfrm>
            <a:off x="7818120" y="5212080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Elegível: Sou Mais / Microcrédito IEFP · TAEG ~2,05% · 24 meses de carência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PROJECÇÕES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Três anos.</a:t>
            </a:r>
            <a:endParaRPr lang="en-US" sz="3600" dirty="0"/>
          </a:p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Lucrativa desde o primeiro.</a:t>
            </a:r>
            <a:endParaRPr lang="en-US" sz="3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457200" y="2377440"/>
          <a:ext cx="69494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680960" y="237744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680960" y="2377440"/>
            <a:ext cx="73152" cy="123444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4688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051560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47% margem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863840" y="2788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0" y="27614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€122.200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86384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0" y="3127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€56.990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680960" y="370332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680960" y="3703320"/>
            <a:ext cx="73152" cy="123444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37947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0515600" y="37947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37% margem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863840" y="41148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0" y="40873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€183.000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63840" y="4480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9144000" y="445312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€68.150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7680960" y="5029200"/>
            <a:ext cx="411480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7680960" y="5029200"/>
            <a:ext cx="73152" cy="1234440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25" name="Text 22"/>
          <p:cNvSpPr/>
          <p:nvPr/>
        </p:nvSpPr>
        <p:spPr>
          <a:xfrm>
            <a:off x="7863840" y="5120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10515600" y="51206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29% margem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7863840" y="5440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9144000" y="541324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€275.000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863840" y="58064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9144000" y="5779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€78.950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EQUILÍBRIO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Lucrativa em qualquer cenário.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Modelamos dois cenários. Mesmo com 60% de venda dos quimonos, o negócio atinge o equilíbrio dentro do Ano 1 — cobrindo integralmente o reembolso do empréstimo e os custos operacionais.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36576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926080"/>
            <a:ext cx="3657600" cy="502920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CONSERVADOR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 de venda dos quimonos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4008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Quimonos vendidos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46888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7764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moda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46888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€60.000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38912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+ Arte + Eventos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46888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€12.000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80060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 · Ano 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€72.000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21208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257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do equilíbrio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468880" y="5257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9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62356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operacional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46888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8FB6B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€28.000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389120" y="2926080"/>
            <a:ext cx="36576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89120" y="2926080"/>
            <a:ext cx="3657600" cy="50292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de venda dos quimonos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5720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Quimonos vendidos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0080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397764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moda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4008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€80.000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0" y="438912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38" name="Text 36"/>
          <p:cNvSpPr/>
          <p:nvPr/>
        </p:nvSpPr>
        <p:spPr>
          <a:xfrm>
            <a:off x="457200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+ Arte + Eventos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0080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€17.500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480060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1" name="Text 39"/>
          <p:cNvSpPr/>
          <p:nvPr/>
        </p:nvSpPr>
        <p:spPr>
          <a:xfrm>
            <a:off x="457200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 · Ano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€97.500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572000" y="521208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5257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do equilíbrio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400800" y="5257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7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562356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7" name="Text 45"/>
          <p:cNvSpPr/>
          <p:nvPr/>
        </p:nvSpPr>
        <p:spPr>
          <a:xfrm>
            <a:off x="457200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operacional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0080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€42.000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321040" y="2926080"/>
            <a:ext cx="3657600" cy="3337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25400" dir="540000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21040" y="2926080"/>
            <a:ext cx="3657600" cy="50292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51" name="Text 49"/>
          <p:cNvSpPr/>
          <p:nvPr/>
        </p:nvSpPr>
        <p:spPr>
          <a:xfrm>
            <a:off x="850392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OPTIMISTA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503920" y="32004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de vendas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850392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Quimonos vendidos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10332720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8503920" y="397764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56" name="Text 54"/>
          <p:cNvSpPr/>
          <p:nvPr/>
        </p:nvSpPr>
        <p:spPr>
          <a:xfrm>
            <a:off x="8503920" y="4023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moda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033272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€100.000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503920" y="438912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59" name="Text 57"/>
          <p:cNvSpPr/>
          <p:nvPr/>
        </p:nvSpPr>
        <p:spPr>
          <a:xfrm>
            <a:off x="8503920" y="4434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+ Arte + Eventos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10332720" y="44348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€22.200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8503920" y="480060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62" name="Text 60"/>
          <p:cNvSpPr/>
          <p:nvPr/>
        </p:nvSpPr>
        <p:spPr>
          <a:xfrm>
            <a:off x="8503920" y="48463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total · Ano 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10332720" y="48463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€122.200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8503920" y="521208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65" name="Text 63"/>
          <p:cNvSpPr/>
          <p:nvPr/>
        </p:nvSpPr>
        <p:spPr>
          <a:xfrm>
            <a:off x="8503920" y="5257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do equilíbrio</a:t>
            </a:r>
            <a:endParaRPr lang="en-US" sz="1000" dirty="0"/>
          </a:p>
        </p:txBody>
      </p:sp>
      <p:sp>
        <p:nvSpPr>
          <p:cNvPr id="66" name="Text 64"/>
          <p:cNvSpPr/>
          <p:nvPr/>
        </p:nvSpPr>
        <p:spPr>
          <a:xfrm>
            <a:off x="10332720" y="52578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8503920" y="5623560"/>
            <a:ext cx="3291840" cy="9144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68" name="Text 66"/>
          <p:cNvSpPr/>
          <p:nvPr/>
        </p:nvSpPr>
        <p:spPr>
          <a:xfrm>
            <a:off x="8503920" y="5669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operacional</a:t>
            </a:r>
            <a:endParaRPr lang="en-US" sz="1000" dirty="0"/>
          </a:p>
        </p:txBody>
      </p:sp>
      <p:sp>
        <p:nvSpPr>
          <p:cNvPr id="69" name="Text 67"/>
          <p:cNvSpPr/>
          <p:nvPr/>
        </p:nvSpPr>
        <p:spPr>
          <a:xfrm>
            <a:off x="10332720" y="56692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9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€56.990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 DE FINANCIAMENTO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€25.000 para lançar.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112772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5E7C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€483 / mês de reembolso — coberto desde o Mês 2.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120640" cy="397764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468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EMPRÉSTIMO SOLICITADO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8892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€25.000</a:t>
            </a:r>
            <a:endParaRPr lang="en-US" sz="7200" dirty="0"/>
          </a:p>
        </p:txBody>
      </p:sp>
      <p:sp>
        <p:nvSpPr>
          <p:cNvPr id="10" name="Shape 8"/>
          <p:cNvSpPr/>
          <p:nvPr/>
        </p:nvSpPr>
        <p:spPr>
          <a:xfrm>
            <a:off x="731520" y="4160520"/>
            <a:ext cx="548640" cy="3657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4297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 TAN · 60 meses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REEMBOLSO MENSAL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3152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~€483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200400" y="4846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DA FUNDADORA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0" y="51206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€20.000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" y="5806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Activos existentes · capital pessoal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2286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DOS FUNDOS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943600" y="2697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de quimonos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43600" y="297180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0" name="Shape 18"/>
          <p:cNvSpPr/>
          <p:nvPr/>
        </p:nvSpPr>
        <p:spPr>
          <a:xfrm>
            <a:off x="5943600" y="2971800"/>
            <a:ext cx="3840480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1" name="Text 19"/>
          <p:cNvSpPr/>
          <p:nvPr/>
        </p:nvSpPr>
        <p:spPr>
          <a:xfrm>
            <a:off x="9921240" y="26974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€13.000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06424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943600" y="32004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Cápsula portuguesa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943600" y="347472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25" name="Shape 23"/>
          <p:cNvSpPr/>
          <p:nvPr/>
        </p:nvSpPr>
        <p:spPr>
          <a:xfrm>
            <a:off x="5943600" y="3474720"/>
            <a:ext cx="1033975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26" name="Text 24"/>
          <p:cNvSpPr/>
          <p:nvPr/>
        </p:nvSpPr>
        <p:spPr>
          <a:xfrm>
            <a:off x="9921240" y="3200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€3.500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64240" y="3200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0" y="3703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de arte &amp; framing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943600" y="397764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0" y="3977640"/>
            <a:ext cx="738554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1" name="Text 29"/>
          <p:cNvSpPr/>
          <p:nvPr/>
        </p:nvSpPr>
        <p:spPr>
          <a:xfrm>
            <a:off x="992124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€2.500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064240" y="3703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0" y="42062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— primeiros 6 meses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943600" y="448056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35" name="Shape 33"/>
          <p:cNvSpPr/>
          <p:nvPr/>
        </p:nvSpPr>
        <p:spPr>
          <a:xfrm>
            <a:off x="5943600" y="4480560"/>
            <a:ext cx="590843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6" name="Text 34"/>
          <p:cNvSpPr/>
          <p:nvPr/>
        </p:nvSpPr>
        <p:spPr>
          <a:xfrm>
            <a:off x="9921240" y="42062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€2.000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1064240" y="4206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943600" y="4709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Fotografia &amp; conteúdos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943600" y="498348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0" name="Shape 38"/>
          <p:cNvSpPr/>
          <p:nvPr/>
        </p:nvSpPr>
        <p:spPr>
          <a:xfrm>
            <a:off x="5943600" y="4983480"/>
            <a:ext cx="443132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41" name="Text 39"/>
          <p:cNvSpPr/>
          <p:nvPr/>
        </p:nvSpPr>
        <p:spPr>
          <a:xfrm>
            <a:off x="9921240" y="47091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€1.500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1106424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943600" y="52120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&amp; infra digital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943600" y="548640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45" name="Shape 43"/>
          <p:cNvSpPr/>
          <p:nvPr/>
        </p:nvSpPr>
        <p:spPr>
          <a:xfrm>
            <a:off x="5943600" y="5486400"/>
            <a:ext cx="443132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46" name="Text 44"/>
          <p:cNvSpPr/>
          <p:nvPr/>
        </p:nvSpPr>
        <p:spPr>
          <a:xfrm>
            <a:off x="9921240" y="5212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€1.500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1064240" y="5212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6%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943600" y="5715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eventos &amp; contingência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5943600" y="5989320"/>
            <a:ext cx="3840480" cy="109728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50" name="Shape 48"/>
          <p:cNvSpPr/>
          <p:nvPr/>
        </p:nvSpPr>
        <p:spPr>
          <a:xfrm>
            <a:off x="5943600" y="5989320"/>
            <a:ext cx="295422" cy="109728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51" name="Text 49"/>
          <p:cNvSpPr/>
          <p:nvPr/>
        </p:nvSpPr>
        <p:spPr>
          <a:xfrm>
            <a:off x="9921240" y="5715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133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€1.000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11064240" y="57150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4%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lançamento à escala.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10545775" cy="27432"/>
          </a:xfrm>
          <a:prstGeom prst="rect">
            <a:avLst/>
          </a:prstGeom>
          <a:solidFill>
            <a:srgbClr val="DCD2BD"/>
          </a:solidFill>
          <a:ln/>
        </p:spPr>
      </p:sp>
      <p:sp>
        <p:nvSpPr>
          <p:cNvPr id="7" name="Shape 5"/>
          <p:cNvSpPr/>
          <p:nvPr/>
        </p:nvSpPr>
        <p:spPr>
          <a:xfrm>
            <a:off x="1537183" y="3739896"/>
            <a:ext cx="329184" cy="329184"/>
          </a:xfrm>
          <a:prstGeom prst="ellipse">
            <a:avLst/>
          </a:prstGeom>
          <a:solidFill>
            <a:srgbClr val="8FB6BC"/>
          </a:solidFill>
          <a:ln w="38100">
            <a:solidFill>
              <a:srgbClr val="F5E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7375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8FB6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1–2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87375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Pré-Lançamento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688059" y="3291840"/>
            <a:ext cx="27432" cy="457200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11" name="Text 9"/>
          <p:cNvSpPr/>
          <p:nvPr/>
        </p:nvSpPr>
        <p:spPr>
          <a:xfrm>
            <a:off x="787375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Financiamento garantido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concluída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Antevisão de imprensa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4812" y="3739896"/>
            <a:ext cx="329184" cy="329184"/>
          </a:xfrm>
          <a:prstGeom prst="ellipse">
            <a:avLst/>
          </a:prstGeom>
          <a:solidFill>
            <a:srgbClr val="E89B7C"/>
          </a:solidFill>
          <a:ln w="38100">
            <a:solidFill>
              <a:srgbClr val="F5E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45004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3–4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45004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Lançamento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445688" y="3291840"/>
            <a:ext cx="27432" cy="45720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16" name="Text 14"/>
          <p:cNvSpPr/>
          <p:nvPr/>
        </p:nvSpPr>
        <p:spPr>
          <a:xfrm>
            <a:off x="2545004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abre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online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 exposição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052441" y="3739896"/>
            <a:ext cx="329184" cy="329184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5ED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302633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5–6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02633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Crescimento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5203317" y="3291840"/>
            <a:ext cx="27432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21" name="Text 19"/>
          <p:cNvSpPr/>
          <p:nvPr/>
        </p:nvSpPr>
        <p:spPr>
          <a:xfrm>
            <a:off x="4302633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200+ quimonos vendidos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eventos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Edições esgotadas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810070" y="3739896"/>
            <a:ext cx="329184" cy="329184"/>
          </a:xfrm>
          <a:prstGeom prst="ellipse">
            <a:avLst/>
          </a:prstGeom>
          <a:solidFill>
            <a:srgbClr val="0E3D49"/>
          </a:solidFill>
          <a:ln w="38100">
            <a:solidFill>
              <a:srgbClr val="F5E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60262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E3D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060262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Equilíbrio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60946" y="3291840"/>
            <a:ext cx="27432" cy="457200"/>
          </a:xfrm>
          <a:prstGeom prst="rect">
            <a:avLst/>
          </a:prstGeom>
          <a:solidFill>
            <a:srgbClr val="0E3D49"/>
          </a:solidFill>
          <a:ln/>
        </p:spPr>
      </p:sp>
      <p:sp>
        <p:nvSpPr>
          <p:cNvPr id="26" name="Text 24"/>
          <p:cNvSpPr/>
          <p:nvPr/>
        </p:nvSpPr>
        <p:spPr>
          <a:xfrm>
            <a:off x="6060262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Equilíbrio atingido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à venda por grosso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paleta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67699" y="3739896"/>
            <a:ext cx="329184" cy="329184"/>
          </a:xfrm>
          <a:prstGeom prst="ellipse">
            <a:avLst/>
          </a:prstGeom>
          <a:solidFill>
            <a:srgbClr val="E89B7C"/>
          </a:solidFill>
          <a:ln w="38100">
            <a:solidFill>
              <a:srgbClr val="F5E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17891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817891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Expansão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718575" y="3291840"/>
            <a:ext cx="27432" cy="45720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1" name="Text 29"/>
          <p:cNvSpPr/>
          <p:nvPr/>
        </p:nvSpPr>
        <p:spPr>
          <a:xfrm>
            <a:off x="7817891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Esgotamento total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€183K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325329" y="3739896"/>
            <a:ext cx="329184" cy="329184"/>
          </a:xfrm>
          <a:prstGeom prst="ellipse">
            <a:avLst/>
          </a:prstGeom>
          <a:solidFill>
            <a:srgbClr val="D4A574"/>
          </a:solidFill>
          <a:ln w="38100">
            <a:solidFill>
              <a:srgbClr val="F5EDD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575521" y="2423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 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575521" y="27432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Crescer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10476205" y="3291840"/>
            <a:ext cx="27432" cy="45720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6" name="Text 34"/>
          <p:cNvSpPr/>
          <p:nvPr/>
        </p:nvSpPr>
        <p:spPr>
          <a:xfrm>
            <a:off x="9575521" y="4297680"/>
            <a:ext cx="18288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Segundo espaço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Equipa de 4</a:t>
            </a:r>
            <a:endParaRPr lang="en-US" sz="1100" dirty="0"/>
          </a:p>
          <a:p>
            <a:pPr algn="ctr"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€275K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ED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54864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820095" y="5029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nos pode atrasar — e o que nos protege.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103120"/>
            <a:ext cx="1127729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210312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1031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Vendas online lentas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434840" y="2267712"/>
            <a:ext cx="914400" cy="31089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0" name="Text 8"/>
          <p:cNvSpPr/>
          <p:nvPr/>
        </p:nvSpPr>
        <p:spPr>
          <a:xfrm>
            <a:off x="4434840" y="226771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577840" y="210312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 física aberta no Dia 1 — canal directo de venda desde o início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16352"/>
            <a:ext cx="1127729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457200" y="2816352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81635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Atrasos de produção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434840" y="2980944"/>
            <a:ext cx="914400" cy="31089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16" name="Text 14"/>
          <p:cNvSpPr/>
          <p:nvPr/>
        </p:nvSpPr>
        <p:spPr>
          <a:xfrm>
            <a:off x="4434840" y="2980944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577840" y="2816352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Prazos com folga · stock de contingência · parceiro de cápsula redundante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529584"/>
            <a:ext cx="1127729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457200" y="3529584"/>
            <a:ext cx="54864" cy="640080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529584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Atrito na parceria de cápsula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434840" y="3694176"/>
            <a:ext cx="914400" cy="310896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22" name="Text 20"/>
          <p:cNvSpPr/>
          <p:nvPr/>
        </p:nvSpPr>
        <p:spPr>
          <a:xfrm>
            <a:off x="4434840" y="3694176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77840" y="3529584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Acordo escrito · papéis criativos definidos · partilha de receita acordada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1127729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457200" y="4242816"/>
            <a:ext cx="54864" cy="640080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242816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Baixa adesão aos eventos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434840" y="4407408"/>
            <a:ext cx="914400" cy="310896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28" name="Text 26"/>
          <p:cNvSpPr/>
          <p:nvPr/>
        </p:nvSpPr>
        <p:spPr>
          <a:xfrm>
            <a:off x="4434840" y="4407408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577840" y="4242816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gratuita no início · comunidade pré-existente · imprensa local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956048"/>
            <a:ext cx="1127729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" y="4956048"/>
            <a:ext cx="54864" cy="640080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495604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Dependência de plataforma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434840" y="5120640"/>
            <a:ext cx="914400" cy="310896"/>
          </a:xfrm>
          <a:prstGeom prst="rect">
            <a:avLst/>
          </a:prstGeom>
          <a:solidFill>
            <a:srgbClr val="8FB6BC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51206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577840" y="4956048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email própria · âncora física · presença multi-canal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5669280"/>
            <a:ext cx="11277295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5"/>
          <p:cNvSpPr/>
          <p:nvPr/>
        </p:nvSpPr>
        <p:spPr>
          <a:xfrm>
            <a:off x="457200" y="5669280"/>
            <a:ext cx="54864" cy="640080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38" name="Text 36"/>
          <p:cNvSpPr/>
          <p:nvPr/>
        </p:nvSpPr>
        <p:spPr>
          <a:xfrm>
            <a:off x="685800" y="56692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Capacidade da fundadora (solo Ano 1)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434840" y="5833872"/>
            <a:ext cx="914400" cy="310896"/>
          </a:xfrm>
          <a:prstGeom prst="rect">
            <a:avLst/>
          </a:prstGeom>
          <a:solidFill>
            <a:srgbClr val="D4A574"/>
          </a:solidFill>
          <a:ln/>
        </p:spPr>
      </p:sp>
      <p:sp>
        <p:nvSpPr>
          <p:cNvPr id="40" name="Text 38"/>
          <p:cNvSpPr/>
          <p:nvPr/>
        </p:nvSpPr>
        <p:spPr>
          <a:xfrm>
            <a:off x="4434840" y="5833872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F5E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MÉDIO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77840" y="5669280"/>
            <a:ext cx="6126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claros · apoio freelance · contratação no Ano 2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 VOCES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D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blissful-curie/mnt/outputs/build/mandala_light.png">    </p:cNvPr>
          <p:cNvPicPr>
            <a:picLocks noChangeAspect="1"/>
          </p:cNvPicPr>
          <p:nvPr/>
        </p:nvPicPr>
        <p:blipFill>
          <a:blip r:embed="rId1">
            <a:alphaModFix amt="55000"/>
          </a:blip>
          <a:stretch>
            <a:fillRect/>
          </a:stretch>
        </p:blipFill>
        <p:spPr>
          <a:xfrm>
            <a:off x="8534095" y="2743200"/>
            <a:ext cx="6858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CONVITE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640080" y="2103120"/>
            <a:ext cx="10058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3200" i="1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 forma que o amor toma</a:t>
            </a:r>
            <a:endParaRPr lang="en-US" sz="32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3200" i="1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decide construir algo duradouro.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40080" y="4206240"/>
            <a:ext cx="731520" cy="36576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43891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D4A5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€25.000, construímo-la — de forma sustentável, lucrativa, e com intenção plena.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349240"/>
            <a:ext cx="6858000" cy="1005840"/>
          </a:xfrm>
          <a:prstGeom prst="rect">
            <a:avLst/>
          </a:prstGeom>
          <a:solidFill>
            <a:srgbClr val="F5EDDD"/>
          </a:solidFill>
          <a:ln/>
        </p:spPr>
      </p:sp>
      <p:sp>
        <p:nvSpPr>
          <p:cNvPr id="8" name="Shape 5"/>
          <p:cNvSpPr/>
          <p:nvPr/>
        </p:nvSpPr>
        <p:spPr>
          <a:xfrm>
            <a:off x="640080" y="5349240"/>
            <a:ext cx="73152" cy="1005840"/>
          </a:xfrm>
          <a:prstGeom prst="rect">
            <a:avLst/>
          </a:prstGeom>
          <a:solidFill>
            <a:srgbClr val="E89B7C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44068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E89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 ·  Saudade Unipessoal LDA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571500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338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hello@saudadevoces.com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68680" y="59893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E7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saudadevoces.com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589520" y="53492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spc="800" kern="0" dirty="0">
                <a:solidFill>
                  <a:srgbClr val="F5ED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SAUDADE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7589520" y="5897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i="1" spc="1200" kern="0" dirty="0">
                <a:solidFill>
                  <a:srgbClr val="D4A5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VOCES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Saudade Voces — Plano de Negócios &amp; Projecção de Lucro</dc:title>
  <dc:subject>PptxGenJS Presentation</dc:subject>
  <dc:creator>Saudade Unipessoal LDA</dc:creator>
  <cp:lastModifiedBy>Saudade Unipessoal LDA</cp:lastModifiedBy>
  <cp:revision>1</cp:revision>
  <dcterms:created xsi:type="dcterms:W3CDTF">2026-05-08T15:49:52Z</dcterms:created>
  <dcterms:modified xsi:type="dcterms:W3CDTF">2026-05-08T15:49:52Z</dcterms:modified>
</cp:coreProperties>
</file>